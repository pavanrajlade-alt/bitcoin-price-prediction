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5" r:id="rId4"/>
    <p:sldId id="267" r:id="rId5"/>
    <p:sldId id="263" r:id="rId6"/>
    <p:sldId id="266" r:id="rId7"/>
    <p:sldId id="259" r:id="rId8"/>
    <p:sldId id="260" r:id="rId9"/>
    <p:sldId id="261" r:id="rId10"/>
    <p:sldId id="268" r:id="rId11"/>
    <p:sldId id="264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292A"/>
    <a:srgbClr val="FDF9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A7DB02-448D-4C10-9270-B10C048AF60E}" v="88" dt="2025-12-03T15:53:18.69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812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34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70094" y="286186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FFFFFF"/>
                </a:solidFill>
              </a:defRPr>
            </a:pPr>
            <a:r>
              <a:rPr dirty="0"/>
              <a:t>Bitcoin Price Prediction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3195" y="1298309"/>
            <a:ext cx="6957609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0F0F0"/>
                </a:solidFill>
              </a:defRPr>
            </a:pPr>
            <a:r>
              <a:rPr dirty="0"/>
              <a:t>Forecasting • Machine Learning • Power BI Dashboard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4EC771-5748-38B3-9C91-B145B11CDA24}"/>
              </a:ext>
            </a:extLst>
          </p:cNvPr>
          <p:cNvSpPr txBox="1"/>
          <p:nvPr/>
        </p:nvSpPr>
        <p:spPr>
          <a:xfrm>
            <a:off x="914399" y="5715582"/>
            <a:ext cx="332255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F0F0F0"/>
                </a:solidFill>
              </a:defRPr>
            </a:pPr>
            <a:r>
              <a:rPr lang="en-US" sz="1600" u="sng" dirty="0">
                <a:latin typeface="Arial" panose="020B0604020202020204" pitchFamily="34" charset="0"/>
                <a:cs typeface="Arial" panose="020B0604020202020204" pitchFamily="34" charset="0"/>
              </a:rPr>
              <a:t>Created by :- Pavan Lade (BIA)</a:t>
            </a:r>
            <a:endParaRPr sz="1600" u="sng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50" name="Picture 2" descr="Why Is Bitcoin Going Up? Crypto Rallies ...">
            <a:extLst>
              <a:ext uri="{FF2B5EF4-FFF2-40B4-BE49-F238E27FC236}">
                <a16:creationId xmlns:a16="http://schemas.microsoft.com/office/drawing/2014/main" id="{0C55552C-2306-C071-6B67-9BDD0CE69E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8488" y="2633663"/>
            <a:ext cx="2867025" cy="159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5A8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736" y="2638498"/>
            <a:ext cx="8229600" cy="588618"/>
          </a:xfrm>
        </p:spPr>
        <p:txBody>
          <a:bodyPr>
            <a:normAutofit fontScale="90000"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rPr sz="3600" dirty="0">
                <a:solidFill>
                  <a:srgbClr val="FFFFFF"/>
                </a:solidFill>
              </a:rP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35488"/>
            <a:ext cx="8229600" cy="1200585"/>
          </a:xfrm>
        </p:spPr>
        <p:txBody>
          <a:bodyPr/>
          <a:lstStyle/>
          <a:p>
            <a:pPr marL="0" indent="0">
              <a:buNone/>
              <a:defRPr sz="1800">
                <a:solidFill>
                  <a:srgbClr val="F0F0F0"/>
                </a:solidFill>
              </a:defRPr>
            </a:pPr>
            <a:r>
              <a:rPr dirty="0"/>
              <a:t>• Objective: Predict Bitcoin closing prices using forecasting and ML models.</a:t>
            </a:r>
            <a:endParaRPr lang="en-US" dirty="0"/>
          </a:p>
          <a:p>
            <a:pPr marL="0" indent="0">
              <a:buNone/>
              <a:defRPr sz="1800">
                <a:solidFill>
                  <a:srgbClr val="F0F0F0"/>
                </a:solidFill>
              </a:defRPr>
            </a:pPr>
            <a:r>
              <a:rPr dirty="0"/>
              <a:t>• Designed to support trading strategies and investment planning.</a:t>
            </a:r>
            <a:endParaRPr lang="en-US" dirty="0"/>
          </a:p>
          <a:p>
            <a:pPr marL="0" indent="0">
              <a:buNone/>
              <a:defRPr sz="1800">
                <a:solidFill>
                  <a:srgbClr val="F0F0F0"/>
                </a:solidFill>
              </a:defRPr>
            </a:pPr>
            <a:r>
              <a:rPr dirty="0"/>
              <a:t>• Includes forecasting models, insights, and a Power BI visualization layer.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457200" y="274638"/>
            <a:ext cx="8229600" cy="7025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>
                <a:solidFill>
                  <a:srgbClr val="FFFFFF"/>
                </a:solidFill>
              </a:defRPr>
            </a:pPr>
            <a:r>
              <a:rPr lang="en-IN" sz="3600" dirty="0">
                <a:solidFill>
                  <a:srgbClr val="FFFFFF"/>
                </a:solidFill>
              </a:rPr>
              <a:t>Project Benefits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EA6FB8D-857C-C309-43B9-C6A134069150}"/>
              </a:ext>
            </a:extLst>
          </p:cNvPr>
          <p:cNvSpPr txBox="1"/>
          <p:nvPr/>
        </p:nvSpPr>
        <p:spPr>
          <a:xfrm>
            <a:off x="366457" y="3481606"/>
            <a:ext cx="7709579" cy="1698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  <a:defRPr sz="1800">
                <a:solidFill>
                  <a:srgbClr val="F0F0F0"/>
                </a:solidFill>
              </a:defRPr>
            </a:pPr>
            <a:endParaRPr lang="en-US" dirty="0">
              <a:solidFill>
                <a:srgbClr val="F0F0F0"/>
              </a:solidFill>
            </a:endParaRPr>
          </a:p>
          <a:p>
            <a:pPr>
              <a:spcBef>
                <a:spcPct val="20000"/>
              </a:spcBef>
              <a:defRPr sz="1800">
                <a:solidFill>
                  <a:srgbClr val="F0F0F0"/>
                </a:solidFill>
              </a:defRPr>
            </a:pPr>
            <a:r>
              <a:rPr lang="en-US" dirty="0">
                <a:solidFill>
                  <a:srgbClr val="F0F0F0"/>
                </a:solidFill>
              </a:rPr>
              <a:t>• Improved decision-making through accurate BTC trend prediction.</a:t>
            </a:r>
          </a:p>
          <a:p>
            <a:pPr>
              <a:spcBef>
                <a:spcPct val="20000"/>
              </a:spcBef>
              <a:defRPr sz="1800">
                <a:solidFill>
                  <a:srgbClr val="F0F0F0"/>
                </a:solidFill>
              </a:defRPr>
            </a:pPr>
            <a:r>
              <a:rPr lang="en-US" dirty="0">
                <a:solidFill>
                  <a:srgbClr val="F0F0F0"/>
                </a:solidFill>
              </a:rPr>
              <a:t>• Enhanced risk management using volatility and price forecasting.</a:t>
            </a:r>
          </a:p>
          <a:p>
            <a:pPr>
              <a:spcBef>
                <a:spcPct val="20000"/>
              </a:spcBef>
              <a:defRPr sz="1800">
                <a:solidFill>
                  <a:srgbClr val="F0F0F0"/>
                </a:solidFill>
              </a:defRPr>
            </a:pPr>
            <a:r>
              <a:rPr lang="en-US" dirty="0">
                <a:solidFill>
                  <a:srgbClr val="F0F0F0"/>
                </a:solidFill>
              </a:rPr>
              <a:t>• Better trading strategies driven by analytics and model outputs.</a:t>
            </a:r>
          </a:p>
          <a:p>
            <a:pPr>
              <a:spcBef>
                <a:spcPct val="20000"/>
              </a:spcBef>
              <a:defRPr sz="1800">
                <a:solidFill>
                  <a:srgbClr val="F0F0F0"/>
                </a:solidFill>
              </a:defRPr>
            </a:pPr>
            <a:r>
              <a:rPr lang="en-US" dirty="0">
                <a:solidFill>
                  <a:srgbClr val="F0F0F0"/>
                </a:solidFill>
              </a:rPr>
              <a:t>• Visual dashboard providing real-time insights.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5A8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1D97D-1B95-6F5F-E424-F149C1611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rPr lang="en-US" sz="3600" dirty="0">
                <a:solidFill>
                  <a:srgbClr val="FFFFFF"/>
                </a:solidFill>
              </a:rPr>
              <a:t>Data Exploration Summary (BTC-USD Time Series)</a:t>
            </a:r>
            <a:endParaRPr lang="en-IN" sz="3600"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3167B7-1DC9-9707-750A-B4382F84B0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None/>
            </a:pPr>
            <a:endParaRPr lang="en-US" sz="1800" dirty="0">
              <a:solidFill>
                <a:srgbClr val="F0F0F0"/>
              </a:solidFill>
            </a:endParaRPr>
          </a:p>
          <a:p>
            <a:pPr>
              <a:buNone/>
            </a:pPr>
            <a:r>
              <a:rPr lang="en-US" sz="1800" b="1" dirty="0">
                <a:solidFill>
                  <a:srgbClr val="F0F0F0"/>
                </a:solidFill>
              </a:rPr>
              <a:t>Dataset Overview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F0F0F0"/>
                </a:solidFill>
              </a:rPr>
              <a:t>Total observations: 3566 trading days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F0F0F0"/>
                </a:solidFill>
              </a:rPr>
              <a:t>Features include: Open, High, Low, Close, Adj Close, Volume, Daily Return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F0F0F0"/>
                </a:solidFill>
              </a:rPr>
              <a:t>Represents long-term historical price and volume movements of Bitcoin (BTC) in USD</a:t>
            </a:r>
          </a:p>
          <a:p>
            <a:pPr marL="0" indent="0">
              <a:buNone/>
            </a:pPr>
            <a:endParaRPr lang="en-US" sz="1900" b="1" dirty="0">
              <a:solidFill>
                <a:srgbClr val="F0F0F0"/>
              </a:solidFill>
            </a:endParaRPr>
          </a:p>
          <a:p>
            <a:pPr marL="0" indent="0">
              <a:buNone/>
            </a:pPr>
            <a:r>
              <a:rPr lang="en-US" sz="1900" b="1" dirty="0">
                <a:solidFill>
                  <a:srgbClr val="F0F0F0"/>
                </a:solidFill>
              </a:rPr>
              <a:t>📈 Price Statistics</a:t>
            </a:r>
          </a:p>
          <a:p>
            <a:r>
              <a:rPr lang="en-US" sz="1900" dirty="0">
                <a:solidFill>
                  <a:srgbClr val="F0F0F0"/>
                </a:solidFill>
              </a:rPr>
              <a:t>Central Tendencies</a:t>
            </a:r>
          </a:p>
          <a:p>
            <a:r>
              <a:rPr lang="en-US" sz="1900" dirty="0">
                <a:solidFill>
                  <a:srgbClr val="F0F0F0"/>
                </a:solidFill>
              </a:rPr>
              <a:t>Average Open Price: 17,130.77</a:t>
            </a:r>
          </a:p>
          <a:p>
            <a:r>
              <a:rPr lang="en-US" sz="1900" dirty="0">
                <a:solidFill>
                  <a:srgbClr val="F0F0F0"/>
                </a:solidFill>
              </a:rPr>
              <a:t>Average Close Price: 17,146.36</a:t>
            </a:r>
          </a:p>
          <a:p>
            <a:r>
              <a:rPr lang="en-US" sz="1900" dirty="0">
                <a:solidFill>
                  <a:srgbClr val="F0F0F0"/>
                </a:solidFill>
              </a:rPr>
              <a:t>Price distribution shows wide variability, indicating BTC’s historically volatile nature.</a:t>
            </a:r>
          </a:p>
          <a:p>
            <a:r>
              <a:rPr lang="en-US" sz="1900" dirty="0">
                <a:solidFill>
                  <a:srgbClr val="F0F0F0"/>
                </a:solidFill>
              </a:rPr>
              <a:t>Median Values</a:t>
            </a:r>
          </a:p>
          <a:p>
            <a:r>
              <a:rPr lang="en-US" sz="1900" dirty="0">
                <a:solidFill>
                  <a:srgbClr val="F0F0F0"/>
                </a:solidFill>
              </a:rPr>
              <a:t>Median Open: 8,940.44</a:t>
            </a:r>
          </a:p>
          <a:p>
            <a:r>
              <a:rPr lang="en-US" sz="1900" dirty="0">
                <a:solidFill>
                  <a:srgbClr val="F0F0F0"/>
                </a:solidFill>
              </a:rPr>
              <a:t>Median Close: 8,987.82</a:t>
            </a:r>
          </a:p>
          <a:p>
            <a:r>
              <a:rPr lang="en-US" sz="1900" dirty="0">
                <a:solidFill>
                  <a:srgbClr val="F0F0F0"/>
                </a:solidFill>
              </a:rPr>
              <a:t>Median values significantly lower than means → suggests right-skewed distribution with large price spikes in later years.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888588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5A8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6142E9-0803-C159-F648-B0DD54D47B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432769"/>
            <a:ext cx="8229600" cy="5849367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IN" sz="1700" b="1" dirty="0">
                <a:solidFill>
                  <a:srgbClr val="F0F0F0"/>
                </a:solidFill>
              </a:rPr>
              <a:t>📉 Price Range &amp; Volatility</a:t>
            </a:r>
          </a:p>
          <a:p>
            <a:pPr>
              <a:buNone/>
            </a:pPr>
            <a:r>
              <a:rPr lang="en-IN" sz="1700" dirty="0">
                <a:solidFill>
                  <a:srgbClr val="F0F0F0"/>
                </a:solidFill>
              </a:rPr>
              <a:t>Price Range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700" dirty="0">
                <a:solidFill>
                  <a:srgbClr val="F0F0F0"/>
                </a:solidFill>
              </a:rPr>
              <a:t>Minimum Close: 178.10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700" dirty="0">
                <a:solidFill>
                  <a:srgbClr val="F0F0F0"/>
                </a:solidFill>
              </a:rPr>
              <a:t>Maximum Close: 73,083.50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700" dirty="0">
                <a:solidFill>
                  <a:srgbClr val="F0F0F0"/>
                </a:solidFill>
              </a:rPr>
              <a:t>Extreme range reflects BTC’s exponential growth over time.</a:t>
            </a:r>
          </a:p>
          <a:p>
            <a:pPr>
              <a:buNone/>
            </a:pPr>
            <a:r>
              <a:rPr lang="en-IN" sz="1700" dirty="0">
                <a:solidFill>
                  <a:srgbClr val="F0F0F0"/>
                </a:solidFill>
              </a:rPr>
              <a:t>Standard Deviation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700" dirty="0">
                <a:solidFill>
                  <a:srgbClr val="F0F0F0"/>
                </a:solidFill>
              </a:rPr>
              <a:t>Price standard deviation ≈ 18,900, showing very high volatility.</a:t>
            </a:r>
          </a:p>
          <a:p>
            <a:pPr>
              <a:buNone/>
            </a:pPr>
            <a:endParaRPr lang="en-IN" sz="1700" dirty="0">
              <a:solidFill>
                <a:srgbClr val="F0F0F0"/>
              </a:solidFill>
            </a:endParaRPr>
          </a:p>
          <a:p>
            <a:pPr>
              <a:buNone/>
            </a:pPr>
            <a:r>
              <a:rPr lang="en-IN" sz="1700" b="1" dirty="0">
                <a:solidFill>
                  <a:srgbClr val="F0F0F0"/>
                </a:solidFill>
              </a:rPr>
              <a:t>📊 Volume Analysis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700" dirty="0">
                <a:solidFill>
                  <a:srgbClr val="F0F0F0"/>
                </a:solidFill>
              </a:rPr>
              <a:t>Average trading volume: 17.46 billion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700" dirty="0">
                <a:solidFill>
                  <a:srgbClr val="F0F0F0"/>
                </a:solidFill>
              </a:rPr>
              <a:t>Volume ranges from ~5.9M to 350B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700" dirty="0">
                <a:solidFill>
                  <a:srgbClr val="F0F0F0"/>
                </a:solidFill>
              </a:rPr>
              <a:t>High variability indicates shifting market involvement across years.</a:t>
            </a:r>
          </a:p>
          <a:p>
            <a:pPr>
              <a:buFont typeface="Arial" panose="020B0604020202020204" pitchFamily="34" charset="0"/>
              <a:buChar char="•"/>
            </a:pPr>
            <a:endParaRPr lang="en-IN" sz="1700" dirty="0">
              <a:solidFill>
                <a:srgbClr val="F0F0F0"/>
              </a:solidFill>
            </a:endParaRPr>
          </a:p>
          <a:p>
            <a:pPr>
              <a:buNone/>
            </a:pPr>
            <a:r>
              <a:rPr lang="en-US" sz="1600" b="1" dirty="0">
                <a:solidFill>
                  <a:srgbClr val="F0F0F0"/>
                </a:solidFill>
              </a:rPr>
              <a:t>📈 Daily Returns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0F0F0"/>
                </a:solidFill>
              </a:rPr>
              <a:t>Mean Daily Return: 0.21%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0F0F0"/>
                </a:solidFill>
              </a:rPr>
              <a:t>Standard Deviation: 3.65% — confirms large day-to-day movement.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0F0F0"/>
                </a:solidFill>
              </a:rPr>
              <a:t>Maximum Daily Return: +25.25%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F0F0F0"/>
                </a:solidFill>
              </a:rPr>
              <a:t>Minimum Daily Return: –37.17%</a:t>
            </a:r>
            <a:br>
              <a:rPr lang="en-US" sz="1600" dirty="0">
                <a:solidFill>
                  <a:srgbClr val="F0F0F0"/>
                </a:solidFill>
              </a:rPr>
            </a:br>
            <a:r>
              <a:rPr lang="en-US" sz="1600" dirty="0">
                <a:solidFill>
                  <a:srgbClr val="F0F0F0"/>
                </a:solidFill>
              </a:rPr>
              <a:t>→ Highlights Bitcoin’s susceptibility to sudden large swings.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83937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5A8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57199"/>
          </a:xfrm>
        </p:spPr>
        <p:txBody>
          <a:bodyPr>
            <a:noAutofit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rPr sz="2800" dirty="0"/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8162"/>
            <a:ext cx="8229600" cy="5128001"/>
          </a:xfrm>
        </p:spPr>
        <p:txBody>
          <a:bodyPr>
            <a:normAutofit fontScale="92500" lnSpcReduction="10000"/>
          </a:bodyPr>
          <a:lstStyle/>
          <a:p>
            <a:pPr>
              <a:defRPr sz="1800">
                <a:solidFill>
                  <a:srgbClr val="F0F0F0"/>
                </a:solidFill>
              </a:defRPr>
            </a:pPr>
            <a:r>
              <a:rPr dirty="0"/>
              <a:t>• Bitcoin shows strong upward momentum during bull cycles.</a:t>
            </a:r>
          </a:p>
          <a:p>
            <a:pPr>
              <a:defRPr sz="1800">
                <a:solidFill>
                  <a:srgbClr val="F0F0F0"/>
                </a:solidFill>
              </a:defRPr>
            </a:pPr>
            <a:r>
              <a:rPr dirty="0"/>
              <a:t>• Significant price changes often follow high-volume spikes.</a:t>
            </a:r>
          </a:p>
          <a:p>
            <a:pPr>
              <a:defRPr sz="1800">
                <a:solidFill>
                  <a:srgbClr val="F0F0F0"/>
                </a:solidFill>
              </a:defRPr>
            </a:pPr>
            <a:r>
              <a:rPr dirty="0"/>
              <a:t>• MA indicators help identify trend direction.</a:t>
            </a:r>
          </a:p>
          <a:p>
            <a:pPr>
              <a:defRPr sz="1800">
                <a:solidFill>
                  <a:srgbClr val="F0F0F0"/>
                </a:solidFill>
              </a:defRPr>
            </a:pPr>
            <a:r>
              <a:rPr dirty="0"/>
              <a:t>• Forecast model shows expected short-term movement.</a:t>
            </a:r>
            <a:endParaRPr lang="en-US" dirty="0"/>
          </a:p>
          <a:p>
            <a:pPr>
              <a:defRPr sz="1800">
                <a:solidFill>
                  <a:srgbClr val="F0F0F0"/>
                </a:solidFill>
              </a:defRPr>
            </a:pPr>
            <a:endParaRPr lang="en-IN" dirty="0"/>
          </a:p>
          <a:p>
            <a:pPr marL="0" indent="0" algn="ctr">
              <a:spcBef>
                <a:spcPct val="0"/>
              </a:spcBef>
              <a:buNone/>
              <a:defRPr>
                <a:solidFill>
                  <a:srgbClr val="FFFFFF"/>
                </a:solidFill>
              </a:defRPr>
            </a:pPr>
            <a:r>
              <a:rPr lang="en-IN" sz="28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Data Preprocessing (Summary)</a:t>
            </a:r>
          </a:p>
          <a:p>
            <a:pPr marL="0" indent="0" algn="ctr">
              <a:spcBef>
                <a:spcPct val="0"/>
              </a:spcBef>
              <a:buNone/>
              <a:defRPr>
                <a:solidFill>
                  <a:srgbClr val="FFFFFF"/>
                </a:solidFill>
              </a:defRPr>
            </a:pPr>
            <a:endParaRPr lang="en-IN" sz="28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  <a:p>
            <a:r>
              <a:rPr lang="en-US" sz="1800" dirty="0">
                <a:solidFill>
                  <a:srgbClr val="F0F0F0"/>
                </a:solidFill>
              </a:rPr>
              <a:t>Data Loading: Imported BTC-USD dataset with Date, Open, High, Low, Close, Adj Close, and Volume.</a:t>
            </a:r>
          </a:p>
          <a:p>
            <a:r>
              <a:rPr lang="en-US" sz="1800" dirty="0">
                <a:solidFill>
                  <a:srgbClr val="F0F0F0"/>
                </a:solidFill>
              </a:rPr>
              <a:t>Data Cleaning: Checked for missing values — none found.</a:t>
            </a:r>
          </a:p>
          <a:p>
            <a:r>
              <a:rPr lang="en-US" sz="1800" dirty="0">
                <a:solidFill>
                  <a:srgbClr val="F0F0F0"/>
                </a:solidFill>
              </a:rPr>
              <a:t>Date Formatting: Converted Date column to proper datetime format.</a:t>
            </a:r>
          </a:p>
          <a:p>
            <a:r>
              <a:rPr lang="en-US" sz="1800" dirty="0">
                <a:solidFill>
                  <a:srgbClr val="F0F0F0"/>
                </a:solidFill>
              </a:rPr>
              <a:t>Feature Selection: Used key financial features (Open, High, Low, Close, Volume) for analysis.</a:t>
            </a:r>
          </a:p>
          <a:p>
            <a:r>
              <a:rPr lang="en-US" sz="1800" dirty="0">
                <a:solidFill>
                  <a:srgbClr val="F0F0F0"/>
                </a:solidFill>
              </a:rPr>
              <a:t>Outlier Check: Reviewed data trends; no major anomalies requiring removal.</a:t>
            </a:r>
          </a:p>
          <a:p>
            <a:r>
              <a:rPr lang="en-US" sz="1800" dirty="0">
                <a:solidFill>
                  <a:srgbClr val="F0F0F0"/>
                </a:solidFill>
              </a:rPr>
              <a:t>Scaling (if modeling): Applied </a:t>
            </a:r>
            <a:r>
              <a:rPr lang="en-US" sz="1800" dirty="0" err="1">
                <a:solidFill>
                  <a:srgbClr val="F0F0F0"/>
                </a:solidFill>
              </a:rPr>
              <a:t>MinMax</a:t>
            </a:r>
            <a:r>
              <a:rPr lang="en-US" sz="1800" dirty="0">
                <a:solidFill>
                  <a:srgbClr val="F0F0F0"/>
                </a:solidFill>
              </a:rPr>
              <a:t>/</a:t>
            </a:r>
            <a:r>
              <a:rPr lang="en-US" sz="1800" dirty="0" err="1">
                <a:solidFill>
                  <a:srgbClr val="F0F0F0"/>
                </a:solidFill>
              </a:rPr>
              <a:t>StandardScaler</a:t>
            </a:r>
            <a:r>
              <a:rPr lang="en-US" sz="1800" dirty="0">
                <a:solidFill>
                  <a:srgbClr val="F0F0F0"/>
                </a:solidFill>
              </a:rPr>
              <a:t> for ML model readiness.</a:t>
            </a:r>
          </a:p>
          <a:p>
            <a:r>
              <a:rPr lang="en-US" sz="1800" dirty="0">
                <a:solidFill>
                  <a:srgbClr val="F0F0F0"/>
                </a:solidFill>
              </a:rPr>
              <a:t>Final Output: A clean, structured, and time-indexed dataset ready for analysis and forecasting.</a:t>
            </a:r>
          </a:p>
          <a:p>
            <a:pPr>
              <a:defRPr sz="1800">
                <a:solidFill>
                  <a:srgbClr val="F0F0F0"/>
                </a:solidFill>
              </a:defRPr>
            </a:pP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5A8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37355-0F72-B60A-D77F-9A73C15A6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100" dirty="0">
                <a:solidFill>
                  <a:srgbClr val="FFFFFF"/>
                </a:solidFill>
              </a:rPr>
              <a:t>Feature Engineering (Summary)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3F1798-261D-0F92-1D1B-9E21216ED5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sz="2600" dirty="0">
                <a:solidFill>
                  <a:srgbClr val="F0F0F0"/>
                </a:solidFill>
              </a:rPr>
              <a:t>Return_1d: Calculated the daily percentage return from the previous day’s closing price. Helps capture short-term price movement and volatility.</a:t>
            </a:r>
          </a:p>
          <a:p>
            <a:endParaRPr lang="en-US" sz="2600" dirty="0">
              <a:solidFill>
                <a:srgbClr val="F0F0F0"/>
              </a:solidFill>
            </a:endParaRPr>
          </a:p>
          <a:p>
            <a:r>
              <a:rPr lang="en-US" sz="2600" dirty="0">
                <a:solidFill>
                  <a:srgbClr val="F0F0F0"/>
                </a:solidFill>
              </a:rPr>
              <a:t>MA7 (7-Day Moving Average): Smooths out short-term fluctuations by averaging the last 7 closing prices. Useful for identifying short-term trends.</a:t>
            </a:r>
          </a:p>
          <a:p>
            <a:endParaRPr lang="en-US" sz="2600" dirty="0">
              <a:solidFill>
                <a:srgbClr val="F0F0F0"/>
              </a:solidFill>
            </a:endParaRPr>
          </a:p>
          <a:p>
            <a:r>
              <a:rPr lang="en-US" sz="2600" dirty="0">
                <a:solidFill>
                  <a:srgbClr val="F0F0F0"/>
                </a:solidFill>
              </a:rPr>
              <a:t>MA21 (21-Day Moving Average): Captures medium-term market trends by averaging the last 21 days of closing prices. Helps understand broader price direction.</a:t>
            </a:r>
          </a:p>
          <a:p>
            <a:endParaRPr lang="en-US" sz="2600" dirty="0">
              <a:solidFill>
                <a:srgbClr val="F0F0F0"/>
              </a:solidFill>
            </a:endParaRPr>
          </a:p>
          <a:p>
            <a:r>
              <a:rPr lang="en-US" sz="2600" dirty="0">
                <a:solidFill>
                  <a:srgbClr val="F0F0F0"/>
                </a:solidFill>
              </a:rPr>
              <a:t>Lag_1: Stores the previous day’s closing price as a predictive input. This helps the model learn from recent price behavior.</a:t>
            </a:r>
          </a:p>
          <a:p>
            <a:endParaRPr lang="en-US" sz="2600" dirty="0">
              <a:solidFill>
                <a:srgbClr val="F0F0F0"/>
              </a:solidFill>
            </a:endParaRPr>
          </a:p>
          <a:p>
            <a:r>
              <a:rPr lang="en-US" sz="2600" dirty="0">
                <a:solidFill>
                  <a:srgbClr val="F0F0F0"/>
                </a:solidFill>
              </a:rPr>
              <a:t>Final Step: Removed rows with missing values created by rolling/shift operations and selected the four engineered features for modeling.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81296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5A8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3763"/>
            <a:ext cx="8229600" cy="558411"/>
          </a:xfrm>
        </p:spPr>
        <p:txBody>
          <a:bodyPr>
            <a:normAutofit fontScale="90000"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rPr lang="en-IN" dirty="0"/>
              <a:t>Model Selection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722" y="823065"/>
            <a:ext cx="2896763" cy="3362459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chemeClr val="accent6"/>
                </a:solidFill>
              </a:rPr>
              <a:t>Gradient Boosting (Machine Learning Model)</a:t>
            </a:r>
          </a:p>
          <a:p>
            <a:pPr algn="ctr"/>
            <a:r>
              <a:rPr lang="en-US" sz="1700" dirty="0">
                <a:solidFill>
                  <a:srgbClr val="F0F0F0"/>
                </a:solidFill>
              </a:rPr>
              <a:t>A tree-based ensemble model trained on engineered features.</a:t>
            </a:r>
          </a:p>
          <a:p>
            <a:pPr algn="ctr"/>
            <a:r>
              <a:rPr lang="en-US" sz="1700" dirty="0">
                <a:solidFill>
                  <a:srgbClr val="F0F0F0"/>
                </a:solidFill>
              </a:rPr>
              <a:t>Captures non-linear patterns in Bitcoin price movements.</a:t>
            </a:r>
          </a:p>
          <a:p>
            <a:pPr algn="ctr"/>
            <a:r>
              <a:rPr lang="en-US" sz="1700" dirty="0">
                <a:solidFill>
                  <a:srgbClr val="F0F0F0"/>
                </a:solidFill>
              </a:rPr>
              <a:t>Output: Predicted Close prices on test data</a:t>
            </a:r>
            <a:r>
              <a:rPr lang="en-US" sz="2000" dirty="0">
                <a:solidFill>
                  <a:srgbClr val="F0F0F0"/>
                </a:solidFill>
              </a:rPr>
              <a:t>.</a:t>
            </a:r>
          </a:p>
          <a:p>
            <a:endParaRPr lang="en-IN" sz="2000" dirty="0">
              <a:solidFill>
                <a:srgbClr val="F0F0F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8957F4-3950-151F-54DB-33BD855BC589}"/>
              </a:ext>
            </a:extLst>
          </p:cNvPr>
          <p:cNvSpPr txBox="1"/>
          <p:nvPr/>
        </p:nvSpPr>
        <p:spPr>
          <a:xfrm>
            <a:off x="3074757" y="805203"/>
            <a:ext cx="2600107" cy="28392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  <a:spcBef>
                <a:spcPct val="20000"/>
              </a:spcBef>
              <a:buFont typeface="Arial"/>
            </a:pPr>
            <a:r>
              <a:rPr lang="en-US" sz="1700" b="1" dirty="0">
                <a:solidFill>
                  <a:srgbClr val="00B050"/>
                </a:solidFill>
              </a:rPr>
              <a:t>ARIMA (Classical Time-Series Model)</a:t>
            </a:r>
          </a:p>
          <a:p>
            <a:pPr marL="342900" indent="-342900" algn="ctr">
              <a:lnSpc>
                <a:spcPct val="90000"/>
              </a:lnSpc>
              <a:spcBef>
                <a:spcPct val="20000"/>
              </a:spcBef>
              <a:buFont typeface="Arial"/>
              <a:buChar char="•"/>
            </a:pPr>
            <a:r>
              <a:rPr lang="en-US" sz="1700" dirty="0">
                <a:solidFill>
                  <a:srgbClr val="F0F0F0"/>
                </a:solidFill>
              </a:rPr>
              <a:t>Models trend + autoregressive patterns in historical Close prices.</a:t>
            </a:r>
          </a:p>
          <a:p>
            <a:pPr marL="342900" indent="-342900" algn="ctr">
              <a:lnSpc>
                <a:spcPct val="90000"/>
              </a:lnSpc>
              <a:spcBef>
                <a:spcPct val="20000"/>
              </a:spcBef>
              <a:buFont typeface="Arial"/>
              <a:buChar char="•"/>
            </a:pPr>
            <a:r>
              <a:rPr lang="en-US" sz="1700" dirty="0">
                <a:solidFill>
                  <a:srgbClr val="F0F0F0"/>
                </a:solidFill>
              </a:rPr>
              <a:t>Suitable for short-term forecasting in stationary time series.</a:t>
            </a:r>
          </a:p>
          <a:p>
            <a:pPr marL="342900" indent="-342900" algn="ctr">
              <a:lnSpc>
                <a:spcPct val="90000"/>
              </a:lnSpc>
              <a:spcBef>
                <a:spcPct val="20000"/>
              </a:spcBef>
              <a:buFont typeface="Arial"/>
              <a:buChar char="•"/>
            </a:pPr>
            <a:r>
              <a:rPr lang="en-US" sz="1700" dirty="0">
                <a:solidFill>
                  <a:srgbClr val="F0F0F0"/>
                </a:solidFill>
              </a:rPr>
              <a:t>Used parameters: ARIMA(1,1,1).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49D2A51-5E57-EE9F-0FE8-2BF5BD461816}"/>
              </a:ext>
            </a:extLst>
          </p:cNvPr>
          <p:cNvSpPr txBox="1"/>
          <p:nvPr/>
        </p:nvSpPr>
        <p:spPr>
          <a:xfrm>
            <a:off x="5755136" y="823065"/>
            <a:ext cx="3137579" cy="28807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90000"/>
              </a:lnSpc>
              <a:spcBef>
                <a:spcPct val="20000"/>
              </a:spcBef>
            </a:pPr>
            <a:r>
              <a:rPr lang="en-US" sz="1700" b="1" dirty="0">
                <a:solidFill>
                  <a:srgbClr val="D6292A"/>
                </a:solidFill>
              </a:rPr>
              <a:t>SARIMAX (Advanced Seasonal Model)</a:t>
            </a:r>
          </a:p>
          <a:p>
            <a:pPr marL="342900" indent="-342900" algn="ctr">
              <a:lnSpc>
                <a:spcPct val="90000"/>
              </a:lnSpc>
              <a:spcBef>
                <a:spcPct val="20000"/>
              </a:spcBef>
              <a:buFont typeface="Arial"/>
              <a:buChar char="•"/>
            </a:pPr>
            <a:r>
              <a:rPr lang="en-US" sz="1700" dirty="0">
                <a:solidFill>
                  <a:srgbClr val="F0F0F0"/>
                </a:solidFill>
              </a:rPr>
              <a:t>Extends ARIMA with seasonality and exogenous patterns.</a:t>
            </a:r>
          </a:p>
          <a:p>
            <a:pPr marL="342900" indent="-342900" algn="ctr">
              <a:lnSpc>
                <a:spcPct val="90000"/>
              </a:lnSpc>
              <a:spcBef>
                <a:spcPct val="20000"/>
              </a:spcBef>
              <a:buFont typeface="Arial"/>
              <a:buChar char="•"/>
            </a:pPr>
            <a:r>
              <a:rPr lang="en-US" sz="1700" dirty="0">
                <a:solidFill>
                  <a:srgbClr val="F0F0F0"/>
                </a:solidFill>
              </a:rPr>
              <a:t>Seasonal parameters used: (1,1,1,7) to capture weekly cycles.</a:t>
            </a:r>
          </a:p>
          <a:p>
            <a:pPr marL="342900" indent="-342900" algn="ctr">
              <a:lnSpc>
                <a:spcPct val="90000"/>
              </a:lnSpc>
              <a:spcBef>
                <a:spcPct val="20000"/>
              </a:spcBef>
              <a:buFont typeface="Arial"/>
              <a:buChar char="•"/>
            </a:pPr>
            <a:r>
              <a:rPr lang="en-US" sz="1700" dirty="0">
                <a:solidFill>
                  <a:srgbClr val="F0F0F0"/>
                </a:solidFill>
              </a:rPr>
              <a:t>Provides more flexible trend + seasonal forecasting</a:t>
            </a:r>
            <a:r>
              <a:rPr lang="en-US" sz="1700" b="1" dirty="0">
                <a:solidFill>
                  <a:srgbClr val="F0F0F0"/>
                </a:solidFill>
              </a:rPr>
              <a:t>.</a:t>
            </a:r>
          </a:p>
          <a:p>
            <a:pPr>
              <a:buNone/>
            </a:pPr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4E5ED4A-9B5E-D394-2B01-C23DF0F700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89" y="3727610"/>
            <a:ext cx="8381911" cy="2930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5A8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69960"/>
          </a:xfrm>
        </p:spPr>
        <p:txBody>
          <a:bodyPr>
            <a:normAutofit fontScale="90000"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rPr lang="en-IN" sz="3200" dirty="0"/>
              <a:t>Model Performance Summary</a:t>
            </a:r>
            <a:endParaRPr sz="320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7206F03-5CAE-E126-79B6-B028D2D7C0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07421"/>
            <a:ext cx="8229600" cy="1556573"/>
          </a:xfrm>
        </p:spPr>
        <p:txBody>
          <a:bodyPr/>
          <a:lstStyle/>
          <a:p>
            <a:pPr marL="0" indent="0">
              <a:buNone/>
            </a:pPr>
            <a:r>
              <a:rPr lang="en-IN" sz="1600" dirty="0">
                <a:solidFill>
                  <a:srgbClr val="F0F0F0"/>
                </a:solidFill>
              </a:rPr>
              <a:t>Evaluation Metrics</a:t>
            </a:r>
          </a:p>
          <a:p>
            <a:r>
              <a:rPr lang="en-IN" sz="1600" dirty="0">
                <a:solidFill>
                  <a:srgbClr val="F0F0F0"/>
                </a:solidFill>
              </a:rPr>
              <a:t>RMSE (Root Mean Squared Error): Measures average prediction error.</a:t>
            </a:r>
          </a:p>
          <a:p>
            <a:r>
              <a:rPr lang="en-IN" sz="1600" dirty="0">
                <a:solidFill>
                  <a:srgbClr val="F0F0F0"/>
                </a:solidFill>
              </a:rPr>
              <a:t>R² Score: Indicates how well the model explains variance.</a:t>
            </a:r>
          </a:p>
          <a:p>
            <a:r>
              <a:rPr lang="en-IN" sz="1600" dirty="0">
                <a:solidFill>
                  <a:srgbClr val="F0F0F0"/>
                </a:solidFill>
              </a:rPr>
              <a:t>MAPE (%): Average percentage deviation from actual values.</a:t>
            </a:r>
          </a:p>
          <a:p>
            <a:r>
              <a:rPr lang="en-IN" sz="1600" dirty="0">
                <a:solidFill>
                  <a:srgbClr val="F0F0F0"/>
                </a:solidFill>
              </a:rPr>
              <a:t>Accuracy (%): Overall prediction correctness.</a:t>
            </a:r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567FB1FE-DB85-ED0F-FBE5-0F4BFE9CA0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3769432"/>
              </p:ext>
            </p:extLst>
          </p:nvPr>
        </p:nvGraphicFramePr>
        <p:xfrm>
          <a:off x="181484" y="3016394"/>
          <a:ext cx="8794992" cy="33775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2346">
                  <a:extLst>
                    <a:ext uri="{9D8B030D-6E8A-4147-A177-3AD203B41FA5}">
                      <a16:colId xmlns:a16="http://schemas.microsoft.com/office/drawing/2014/main" val="3411501368"/>
                    </a:ext>
                  </a:extLst>
                </a:gridCol>
                <a:gridCol w="2847480">
                  <a:extLst>
                    <a:ext uri="{9D8B030D-6E8A-4147-A177-3AD203B41FA5}">
                      <a16:colId xmlns:a16="http://schemas.microsoft.com/office/drawing/2014/main" val="448356113"/>
                    </a:ext>
                  </a:extLst>
                </a:gridCol>
                <a:gridCol w="2477954">
                  <a:extLst>
                    <a:ext uri="{9D8B030D-6E8A-4147-A177-3AD203B41FA5}">
                      <a16:colId xmlns:a16="http://schemas.microsoft.com/office/drawing/2014/main" val="2142227088"/>
                    </a:ext>
                  </a:extLst>
                </a:gridCol>
                <a:gridCol w="2387212">
                  <a:extLst>
                    <a:ext uri="{9D8B030D-6E8A-4147-A177-3AD203B41FA5}">
                      <a16:colId xmlns:a16="http://schemas.microsoft.com/office/drawing/2014/main" val="161809649"/>
                    </a:ext>
                  </a:extLst>
                </a:gridCol>
              </a:tblGrid>
              <a:tr h="492635">
                <a:tc>
                  <a:txBody>
                    <a:bodyPr/>
                    <a:lstStyle/>
                    <a:p>
                      <a:r>
                        <a:rPr lang="en-US" dirty="0"/>
                        <a:t>Type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ctr" defTabSz="457200" rtl="0" eaLnBrk="1" latinLnBrk="0" hangingPunct="1">
                        <a:spcBef>
                          <a:spcPct val="20000"/>
                        </a:spcBef>
                        <a:buFont typeface="Arial"/>
                        <a:buNone/>
                      </a:pPr>
                      <a:r>
                        <a:rPr lang="en-IN" sz="2000" b="1" kern="1200" dirty="0">
                          <a:solidFill>
                            <a:schemeClr val="accent6"/>
                          </a:solidFill>
                          <a:latin typeface="+mn-lt"/>
                          <a:ea typeface="+mn-ea"/>
                          <a:cs typeface="+mn-cs"/>
                        </a:rPr>
                        <a:t>1. Gradient Boosting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457200" rtl="0" eaLnBrk="1" latinLnBrk="0" hangingPunct="1">
                        <a:lnSpc>
                          <a:spcPct val="90000"/>
                        </a:lnSpc>
                        <a:spcBef>
                          <a:spcPct val="20000"/>
                        </a:spcBef>
                        <a:buFont typeface="Arial"/>
                      </a:pPr>
                      <a:r>
                        <a:rPr lang="en-IN" sz="2000" b="1" kern="1200" dirty="0">
                          <a:solidFill>
                            <a:srgbClr val="00B050"/>
                          </a:solidFill>
                          <a:latin typeface="+mn-lt"/>
                          <a:ea typeface="+mn-ea"/>
                          <a:cs typeface="+mn-cs"/>
                        </a:rPr>
                        <a:t>2. ARIMA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000" b="1" kern="1200" dirty="0">
                          <a:solidFill>
                            <a:srgbClr val="D6292A"/>
                          </a:solidFill>
                          <a:latin typeface="+mn-lt"/>
                          <a:ea typeface="+mn-ea"/>
                          <a:cs typeface="+mn-cs"/>
                        </a:rPr>
                        <a:t>3. SARIMAX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0498876"/>
                  </a:ext>
                </a:extLst>
              </a:tr>
              <a:tr h="492635">
                <a:tc>
                  <a:txBody>
                    <a:bodyPr/>
                    <a:lstStyle/>
                    <a:p>
                      <a:r>
                        <a:rPr lang="en-IN" b="1" dirty="0"/>
                        <a:t>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573.17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3948.21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4048.83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4200691"/>
                  </a:ext>
                </a:extLst>
              </a:tr>
              <a:tr h="492635">
                <a:tc>
                  <a:txBody>
                    <a:bodyPr/>
                    <a:lstStyle/>
                    <a:p>
                      <a:r>
                        <a:rPr lang="en-IN" b="1" dirty="0"/>
                        <a:t>R² 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0.978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–0.03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–0.08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3490810"/>
                  </a:ext>
                </a:extLst>
              </a:tr>
              <a:tr h="492635">
                <a:tc>
                  <a:txBody>
                    <a:bodyPr/>
                    <a:lstStyle/>
                    <a:p>
                      <a:r>
                        <a:rPr lang="en-IN" b="1" dirty="0"/>
                        <a:t>MAPE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 dirty="0"/>
                        <a:t>0.69%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5.10%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5.23%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50883247"/>
                  </a:ext>
                </a:extLst>
              </a:tr>
              <a:tr h="492635">
                <a:tc>
                  <a:txBody>
                    <a:bodyPr/>
                    <a:lstStyle/>
                    <a:p>
                      <a:r>
                        <a:rPr lang="en-IN" b="1" dirty="0"/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dirty="0"/>
                        <a:t>99.30%</a:t>
                      </a:r>
                      <a:endParaRPr lang="en-IN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94.90%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94.76%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4791467"/>
                  </a:ext>
                </a:extLst>
              </a:tr>
              <a:tr h="872370">
                <a:tc>
                  <a:txBody>
                    <a:bodyPr/>
                    <a:lstStyle/>
                    <a:p>
                      <a:r>
                        <a:rPr lang="en-US" b="1" dirty="0"/>
                        <a:t>Result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✔ </a:t>
                      </a:r>
                      <a:r>
                        <a:rPr lang="en-US" b="1" dirty="0"/>
                        <a:t>Best overall performance</a:t>
                      </a:r>
                      <a:br>
                        <a:rPr lang="en-US" dirty="0"/>
                      </a:br>
                      <a:r>
                        <a:rPr lang="en-US" b="1" dirty="0"/>
                        <a:t>✔ Most accurate and stable model</a:t>
                      </a:r>
                      <a:endParaRPr lang="en-IN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✖ Higher error, weak model fit</a:t>
                      </a:r>
                    </a:p>
                    <a:p>
                      <a:pPr algn="ctr"/>
                      <a:endParaRPr lang="en-IN" sz="1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✖ Highest error, poorest performance</a:t>
                      </a:r>
                    </a:p>
                    <a:p>
                      <a:pPr algn="ctr"/>
                      <a:endParaRPr lang="en-IN" sz="1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888549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34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90901"/>
          </a:xfrm>
        </p:spPr>
        <p:txBody>
          <a:bodyPr>
            <a:normAutofit fontScale="90000"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rPr dirty="0"/>
              <a:t>Power BI Dashboard Overview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3F3C65B-8EA2-3329-5CDF-ED27E1722B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45" y="1067642"/>
            <a:ext cx="4248368" cy="214006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4C2FB72-C78C-8BA2-138E-B4C96356DB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45" y="3951074"/>
            <a:ext cx="4248368" cy="2345024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3AE3856F-3D6D-D105-A2B5-ED880A5EDB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6365" y="1054941"/>
            <a:ext cx="4248368" cy="2152761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D5A4C4F0-0491-6574-3D69-B1DCBF8237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17845" y="3951074"/>
            <a:ext cx="4246887" cy="234502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34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A211B7B-EA9F-68AC-FE4D-BC87535913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274" y="276261"/>
            <a:ext cx="3626035" cy="236867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FE0D53F-C152-996E-38D7-74B6B51F2A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829" y="276262"/>
            <a:ext cx="3823302" cy="236867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1A97CE1-421B-4774-0EDB-5B8EB32A10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274" y="2949555"/>
            <a:ext cx="3626035" cy="236867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3DF9567-5012-02E0-7845-74E5ED8DFF0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3829" y="2944320"/>
            <a:ext cx="3823302" cy="2368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50746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C34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23524"/>
          </a:xfrm>
        </p:spPr>
        <p:txBody>
          <a:bodyPr>
            <a:normAutofit fontScale="90000"/>
          </a:bodyPr>
          <a:lstStyle/>
          <a:p>
            <a:pPr>
              <a:defRPr>
                <a:solidFill>
                  <a:srgbClr val="FFFFFF"/>
                </a:solidFill>
              </a:defRPr>
            </a:pPr>
            <a:r>
              <a:rPr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65686"/>
            <a:ext cx="8229600" cy="5417676"/>
          </a:xfrm>
        </p:spPr>
        <p:txBody>
          <a:bodyPr>
            <a:normAutofit lnSpcReduction="10000"/>
          </a:bodyPr>
          <a:lstStyle/>
          <a:p>
            <a:r>
              <a:rPr lang="en-IN" sz="1800" dirty="0">
                <a:solidFill>
                  <a:srgbClr val="F0F0F0"/>
                </a:solidFill>
              </a:rPr>
              <a:t>The project successfully analysed and predicted Bitcoin prices using machine learning and time-series models.</a:t>
            </a:r>
          </a:p>
          <a:p>
            <a:pPr>
              <a:defRPr sz="1800">
                <a:solidFill>
                  <a:srgbClr val="F0F0F0"/>
                </a:solidFill>
              </a:defRPr>
            </a:pPr>
            <a:r>
              <a:rPr lang="en-IN" sz="1800" dirty="0"/>
              <a:t>Comprehensive preprocessing, feature engineering, and exploratory analysis helped build a reliable forecasting pipeline</a:t>
            </a:r>
          </a:p>
          <a:p>
            <a:r>
              <a:rPr lang="en-IN" sz="1800" dirty="0">
                <a:solidFill>
                  <a:srgbClr val="F0F0F0"/>
                </a:solidFill>
              </a:rPr>
              <a:t>Among all models tested, Gradient Boosting delivered the best performance, achieving:</a:t>
            </a:r>
          </a:p>
          <a:p>
            <a:pPr lvl="1" algn="just">
              <a:buFont typeface="Wingdings" panose="05000000000000000000" pitchFamily="2" charset="2"/>
              <a:buChar char="q"/>
            </a:pPr>
            <a:r>
              <a:rPr lang="en-IN" sz="1800" dirty="0">
                <a:solidFill>
                  <a:srgbClr val="F0F0F0"/>
                </a:solidFill>
              </a:rPr>
              <a:t>Lowest RMSE</a:t>
            </a:r>
          </a:p>
          <a:p>
            <a:pPr lvl="1" algn="just">
              <a:buFont typeface="Wingdings" panose="05000000000000000000" pitchFamily="2" charset="2"/>
              <a:buChar char="q"/>
            </a:pPr>
            <a:r>
              <a:rPr lang="en-IN" sz="1800" dirty="0">
                <a:solidFill>
                  <a:srgbClr val="F0F0F0"/>
                </a:solidFill>
              </a:rPr>
              <a:t>Highest R² Score</a:t>
            </a:r>
          </a:p>
          <a:p>
            <a:pPr lvl="1" algn="just">
              <a:buFont typeface="Wingdings" panose="05000000000000000000" pitchFamily="2" charset="2"/>
              <a:buChar char="q"/>
            </a:pPr>
            <a:r>
              <a:rPr lang="en-IN" sz="1800" dirty="0">
                <a:solidFill>
                  <a:srgbClr val="F0F0F0"/>
                </a:solidFill>
              </a:rPr>
              <a:t>Lowest MAPE</a:t>
            </a:r>
          </a:p>
          <a:p>
            <a:pPr lvl="1" algn="just">
              <a:buFont typeface="Wingdings" panose="05000000000000000000" pitchFamily="2" charset="2"/>
              <a:buChar char="q"/>
            </a:pPr>
            <a:r>
              <a:rPr lang="en-IN" sz="1800" dirty="0">
                <a:solidFill>
                  <a:srgbClr val="F0F0F0"/>
                </a:solidFill>
              </a:rPr>
              <a:t>Highest Accuracy (99.30%)</a:t>
            </a:r>
          </a:p>
          <a:p>
            <a:r>
              <a:rPr lang="en-IN" sz="1800" dirty="0">
                <a:solidFill>
                  <a:srgbClr val="F0F0F0"/>
                </a:solidFill>
              </a:rPr>
              <a:t>ARIMA and SARIMAX struggled to capture the complex, non-linear nature of Bitcoin price movements, resulting in higher forecasting errors.</a:t>
            </a:r>
          </a:p>
          <a:p>
            <a:r>
              <a:rPr lang="en-IN" sz="1800" dirty="0">
                <a:solidFill>
                  <a:srgbClr val="F0F0F0"/>
                </a:solidFill>
              </a:rPr>
              <a:t>The final results highlight that machine learning models outperform classical time-series models for volatile financial assets like Bitcoin</a:t>
            </a:r>
          </a:p>
          <a:p>
            <a:r>
              <a:rPr lang="en-IN" sz="1800" dirty="0">
                <a:solidFill>
                  <a:srgbClr val="F0F0F0"/>
                </a:solidFill>
              </a:rPr>
              <a:t>This framework can be extended for:</a:t>
            </a:r>
          </a:p>
          <a:p>
            <a:pPr lvl="1" algn="just">
              <a:buFont typeface="Wingdings" panose="05000000000000000000" pitchFamily="2" charset="2"/>
              <a:buChar char="q"/>
            </a:pPr>
            <a:r>
              <a:rPr lang="en-IN" sz="1800" dirty="0">
                <a:solidFill>
                  <a:srgbClr val="F0F0F0"/>
                </a:solidFill>
              </a:rPr>
              <a:t>Real-time cryptocurrency forecasting</a:t>
            </a:r>
          </a:p>
          <a:p>
            <a:pPr lvl="1" algn="just">
              <a:buFont typeface="Wingdings" panose="05000000000000000000" pitchFamily="2" charset="2"/>
              <a:buChar char="q"/>
            </a:pPr>
            <a:r>
              <a:rPr lang="en-IN" sz="1800" dirty="0">
                <a:solidFill>
                  <a:srgbClr val="F0F0F0"/>
                </a:solidFill>
              </a:rPr>
              <a:t>Algorithmic trading</a:t>
            </a:r>
          </a:p>
          <a:p>
            <a:pPr lvl="1" algn="just">
              <a:buFont typeface="Wingdings" panose="05000000000000000000" pitchFamily="2" charset="2"/>
              <a:buChar char="q"/>
            </a:pPr>
            <a:r>
              <a:rPr lang="en-IN" sz="1800" dirty="0">
                <a:solidFill>
                  <a:srgbClr val="F0F0F0"/>
                </a:solidFill>
              </a:rPr>
              <a:t>Risk analysis and investment decision support.</a:t>
            </a:r>
          </a:p>
          <a:p>
            <a:endParaRPr lang="en-IN" sz="1800" dirty="0">
              <a:solidFill>
                <a:srgbClr val="F0F0F0"/>
              </a:solidFill>
            </a:endParaRPr>
          </a:p>
          <a:p>
            <a:pPr lvl="0"/>
            <a:endParaRPr lang="en-IN" sz="1800" dirty="0">
              <a:solidFill>
                <a:srgbClr val="F0F0F0"/>
              </a:solidFill>
            </a:endParaRPr>
          </a:p>
          <a:p>
            <a:pPr>
              <a:defRPr sz="1800">
                <a:solidFill>
                  <a:srgbClr val="F0F0F0"/>
                </a:solidFill>
              </a:defRPr>
            </a:pP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167</TotalTime>
  <Words>912</Words>
  <Application>Microsoft Office PowerPoint</Application>
  <PresentationFormat>On-screen Show (4:3)</PresentationFormat>
  <Paragraphs>131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Wingdings</vt:lpstr>
      <vt:lpstr>Office Theme</vt:lpstr>
      <vt:lpstr>PowerPoint Presentation</vt:lpstr>
      <vt:lpstr>Project Overview</vt:lpstr>
      <vt:lpstr>Data Exploration Summary (BTC-USD Time Series)</vt:lpstr>
      <vt:lpstr>PowerPoint Presentation</vt:lpstr>
      <vt:lpstr>Key Insights</vt:lpstr>
      <vt:lpstr>Feature Engineering (Summary) </vt:lpstr>
      <vt:lpstr>Model Selection</vt:lpstr>
      <vt:lpstr>Model Performance Summary</vt:lpstr>
      <vt:lpstr>Power BI Dashboard Overview</vt:lpstr>
      <vt:lpstr>PowerPoint Presentation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pavan lade</cp:lastModifiedBy>
  <cp:revision>2</cp:revision>
  <dcterms:created xsi:type="dcterms:W3CDTF">2013-01-27T09:14:16Z</dcterms:created>
  <dcterms:modified xsi:type="dcterms:W3CDTF">2025-12-03T15:56:20Z</dcterms:modified>
  <cp:category/>
</cp:coreProperties>
</file>